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2" d="100"/>
          <a:sy n="82" d="100"/>
        </p:scale>
        <p:origin x="1168" y="-24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tamishhossain@gmail.com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tastrif.anubhove@aiub.edu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402" y="175445"/>
            <a:ext cx="2146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E4660"/>
                </a:solidFill>
                <a:latin typeface="Arial"/>
                <a:cs typeface="Arial"/>
              </a:rPr>
              <a:t>Cover</a:t>
            </a:r>
            <a:r>
              <a:rPr sz="1800" b="1" spc="-5" dirty="0">
                <a:solidFill>
                  <a:srgbClr val="0E466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E4660"/>
                </a:solidFill>
                <a:latin typeface="Arial"/>
                <a:cs typeface="Arial"/>
              </a:rPr>
              <a:t>Letter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3402" y="712562"/>
            <a:ext cx="5925185" cy="58927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KARWAN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BAZAR,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Dhaka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050" b="1" dirty="0">
                <a:latin typeface="Arial"/>
                <a:cs typeface="Arial"/>
              </a:rPr>
              <a:t>Phone</a:t>
            </a:r>
            <a:r>
              <a:rPr sz="1100" b="1" dirty="0">
                <a:latin typeface="Arial"/>
                <a:cs typeface="Arial"/>
              </a:rPr>
              <a:t>: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01880885722</a:t>
            </a:r>
            <a:endParaRPr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100" b="1" dirty="0">
                <a:latin typeface="Arial"/>
                <a:cs typeface="Arial"/>
              </a:rPr>
              <a:t>Email: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  <a:hlinkClick r:id="rId2"/>
              </a:rPr>
              <a:t>tamishhossain@gmail.com</a:t>
            </a:r>
            <a:endParaRPr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z="1100" b="1" dirty="0">
                <a:latin typeface="Arial"/>
                <a:cs typeface="Arial"/>
              </a:rPr>
              <a:t>Date: </a:t>
            </a:r>
            <a:r>
              <a:rPr sz="1100" dirty="0">
                <a:latin typeface="Arial MT"/>
                <a:cs typeface="Arial MT"/>
              </a:rPr>
              <a:t>March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lang="en-US" sz="1100" spc="-35" dirty="0">
                <a:latin typeface="Arial MT"/>
                <a:cs typeface="Arial MT"/>
              </a:rPr>
              <a:t>12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2026</a:t>
            </a:r>
            <a:endParaRPr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100" b="1" dirty="0">
                <a:latin typeface="Arial"/>
                <a:cs typeface="Arial"/>
              </a:rPr>
              <a:t>Hiring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Manager</a:t>
            </a:r>
            <a:endParaRPr sz="1100" dirty="0">
              <a:latin typeface="Arial"/>
              <a:cs typeface="Arial"/>
            </a:endParaRPr>
          </a:p>
          <a:p>
            <a:pPr marL="12700" marR="2376805">
              <a:lnSpc>
                <a:spcPct val="195200"/>
              </a:lnSpc>
              <a:spcBef>
                <a:spcPts val="25"/>
              </a:spcBef>
            </a:pPr>
            <a:r>
              <a:rPr lang="en-US" sz="1100" dirty="0" err="1"/>
              <a:t>SecureBank</a:t>
            </a:r>
            <a:r>
              <a:rPr lang="en-US" sz="1100" dirty="0"/>
              <a:t> Technologies Ltd.</a:t>
            </a:r>
            <a:endParaRPr lang="en-US" sz="1100" spc="-30" dirty="0">
              <a:latin typeface="Arial MT"/>
              <a:cs typeface="Arial MT"/>
            </a:endParaRPr>
          </a:p>
          <a:p>
            <a:pPr marL="12700" marR="2376805">
              <a:lnSpc>
                <a:spcPct val="195200"/>
              </a:lnSpc>
              <a:spcBef>
                <a:spcPts val="25"/>
              </a:spcBef>
            </a:pPr>
            <a:r>
              <a:rPr sz="1100" dirty="0">
                <a:latin typeface="Arial MT"/>
                <a:cs typeface="Arial MT"/>
              </a:rPr>
              <a:t>Karwan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bazar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Branch,</a:t>
            </a:r>
            <a:r>
              <a:rPr sz="1100" spc="-20" dirty="0">
                <a:latin typeface="Arial MT"/>
                <a:cs typeface="Arial MT"/>
              </a:rPr>
              <a:t> Dhaka</a:t>
            </a:r>
            <a:endParaRPr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100" b="1" dirty="0">
                <a:latin typeface="Arial"/>
                <a:cs typeface="Arial"/>
              </a:rPr>
              <a:t>Subject: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Application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</a:t>
            </a:r>
            <a:r>
              <a:rPr lang="en-US" sz="1100" b="1" dirty="0">
                <a:latin typeface="Arial"/>
                <a:cs typeface="Arial"/>
              </a:rPr>
              <a:t>or</a:t>
            </a:r>
            <a:r>
              <a:rPr lang="en-US" sz="1100" b="1" spc="-30" dirty="0">
                <a:latin typeface="Arial"/>
                <a:cs typeface="Arial"/>
              </a:rPr>
              <a:t> IT support officer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 MT"/>
                <a:cs typeface="Arial MT"/>
              </a:rPr>
              <a:t>Dear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Hiring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Manager,</a:t>
            </a:r>
            <a:endParaRPr sz="1100" dirty="0">
              <a:latin typeface="Arial MT"/>
              <a:cs typeface="Arial MT"/>
            </a:endParaRPr>
          </a:p>
          <a:p>
            <a:pPr marL="12700" marR="5080">
              <a:lnSpc>
                <a:spcPct val="110800"/>
              </a:lnSpc>
              <a:spcBef>
                <a:spcPts val="1215"/>
              </a:spcBef>
            </a:pPr>
            <a:r>
              <a:rPr sz="1100" dirty="0">
                <a:latin typeface="Arial MT"/>
                <a:cs typeface="Arial MT"/>
              </a:rPr>
              <a:t>I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am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writing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express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interest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Support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Officer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position.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Computer </a:t>
            </a:r>
            <a:r>
              <a:rPr sz="1100" dirty="0">
                <a:latin typeface="Arial MT"/>
                <a:cs typeface="Arial MT"/>
              </a:rPr>
              <a:t>Science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Engineering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graduate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AIUB,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am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eager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apply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technical skills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</a:t>
            </a:r>
            <a:r>
              <a:rPr sz="1100" dirty="0">
                <a:latin typeface="Arial MT"/>
                <a:cs typeface="Arial MT"/>
              </a:rPr>
              <a:t>support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your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Core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Banking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Software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operational</a:t>
            </a:r>
            <a:r>
              <a:rPr sz="1100" spc="-10" dirty="0">
                <a:latin typeface="Arial MT"/>
                <a:cs typeface="Arial MT"/>
              </a:rPr>
              <a:t> systems.</a:t>
            </a:r>
            <a:endParaRPr sz="1100" dirty="0">
              <a:latin typeface="Arial MT"/>
              <a:cs typeface="Arial MT"/>
            </a:endParaRPr>
          </a:p>
          <a:p>
            <a:pPr marL="12700" marR="185420">
              <a:lnSpc>
                <a:spcPct val="111200"/>
              </a:lnSpc>
              <a:spcBef>
                <a:spcPts val="1230"/>
              </a:spcBef>
            </a:pPr>
            <a:r>
              <a:rPr sz="1100" dirty="0">
                <a:latin typeface="Arial MT"/>
                <a:cs typeface="Arial MT"/>
              </a:rPr>
              <a:t>Key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strengths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bring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include.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Technical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Support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Ability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provide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24/7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assistance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for </a:t>
            </a:r>
            <a:r>
              <a:rPr sz="1100" dirty="0">
                <a:latin typeface="Arial MT"/>
                <a:cs typeface="Arial MT"/>
              </a:rPr>
              <a:t>software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operational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issues.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Problem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Solving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Experience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analyzing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technical </a:t>
            </a:r>
            <a:r>
              <a:rPr sz="1100" dirty="0">
                <a:latin typeface="Arial MT"/>
                <a:cs typeface="Arial MT"/>
              </a:rPr>
              <a:t>requirements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resolving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queries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via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phone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email.Reporting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&amp;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Closing </a:t>
            </a:r>
            <a:r>
              <a:rPr sz="1100" dirty="0">
                <a:latin typeface="Arial MT"/>
                <a:cs typeface="Arial MT"/>
              </a:rPr>
              <a:t>Skilled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handling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daily/monthly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closings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generating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accurate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reports.</a:t>
            </a:r>
            <a:endParaRPr sz="1100" dirty="0">
              <a:latin typeface="Arial MT"/>
              <a:cs typeface="Arial MT"/>
            </a:endParaRPr>
          </a:p>
          <a:p>
            <a:pPr marL="12700" marR="27940">
              <a:lnSpc>
                <a:spcPct val="111700"/>
              </a:lnSpc>
            </a:pPr>
            <a:r>
              <a:rPr sz="1100" dirty="0">
                <a:latin typeface="Arial MT"/>
                <a:cs typeface="Arial MT"/>
              </a:rPr>
              <a:t>Professionalism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dedicated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team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player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committed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maintaining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corporate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standards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quick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response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times.</a:t>
            </a:r>
            <a:endParaRPr sz="1100" dirty="0">
              <a:latin typeface="Arial MT"/>
              <a:cs typeface="Arial MT"/>
            </a:endParaRPr>
          </a:p>
          <a:p>
            <a:pPr marL="12700" marR="33020" algn="just">
              <a:lnSpc>
                <a:spcPct val="110800"/>
              </a:lnSpc>
              <a:spcBef>
                <a:spcPts val="1215"/>
              </a:spcBef>
            </a:pPr>
            <a:r>
              <a:rPr sz="1100" dirty="0">
                <a:latin typeface="Arial MT"/>
                <a:cs typeface="Arial MT"/>
              </a:rPr>
              <a:t>I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am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confident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background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Database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Management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Programming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makes </a:t>
            </a:r>
            <a:r>
              <a:rPr sz="1100" dirty="0">
                <a:latin typeface="Arial MT"/>
                <a:cs typeface="Arial MT"/>
              </a:rPr>
              <a:t>me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strong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your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technical team.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look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forward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discussing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how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contribute </a:t>
            </a:r>
            <a:r>
              <a:rPr sz="1100" dirty="0">
                <a:latin typeface="Arial MT"/>
                <a:cs typeface="Arial MT"/>
              </a:rPr>
              <a:t>to your </a:t>
            </a:r>
            <a:r>
              <a:rPr sz="1100" spc="-10" dirty="0">
                <a:latin typeface="Arial MT"/>
                <a:cs typeface="Arial MT"/>
              </a:rPr>
              <a:t>organization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3402" y="6533695"/>
            <a:ext cx="956310" cy="561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Sincerely,</a:t>
            </a: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lang="en-US" sz="1200" b="1" dirty="0">
                <a:latin typeface="Arial"/>
                <a:cs typeface="Arial"/>
              </a:rPr>
              <a:t>TAMISH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9D2D6C-21D9-6BF7-65B0-775A21DB573A}"/>
              </a:ext>
            </a:extLst>
          </p:cNvPr>
          <p:cNvSpPr txBox="1"/>
          <p:nvPr/>
        </p:nvSpPr>
        <p:spPr>
          <a:xfrm>
            <a:off x="457200" y="7265576"/>
            <a:ext cx="6565595" cy="2126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E4660"/>
                </a:solidFill>
                <a:effectLst/>
                <a:uLnTx/>
                <a:uFillTx/>
                <a:latin typeface="Arial"/>
                <a:cs typeface="Arial"/>
              </a:rPr>
              <a:t> Curriculum Vitae </a:t>
            </a:r>
            <a:r>
              <a:rPr kumimoji="0" lang="en-US" sz="1400" b="1" i="0" u="none" strike="noStrike" kern="0" cap="none" spc="-20" normalizeH="0" baseline="0" noProof="0" dirty="0">
                <a:ln>
                  <a:noFill/>
                </a:ln>
                <a:solidFill>
                  <a:srgbClr val="0E4660"/>
                </a:solidFill>
                <a:effectLst/>
                <a:uLnTx/>
                <a:uFillTx/>
                <a:latin typeface="Arial"/>
                <a:cs typeface="Arial"/>
              </a:rPr>
              <a:t>(CV)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E466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E466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MD.Al-Tamish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Hossain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446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Shahenbag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,Tejgaon,Dhaka-1215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01880885722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E4660"/>
                </a:solidFill>
                <a:effectLst/>
                <a:uLnTx/>
                <a:uFillTx/>
                <a:latin typeface="Arial"/>
                <a:cs typeface="Arial"/>
              </a:rPr>
              <a:t> CAREER</a:t>
            </a:r>
            <a:r>
              <a:rPr kumimoji="0" lang="en-US" sz="1100" b="1" i="0" u="none" strike="noStrike" kern="0" cap="none" spc="-50" normalizeH="0" baseline="0" noProof="0" dirty="0">
                <a:ln>
                  <a:noFill/>
                </a:ln>
                <a:solidFill>
                  <a:srgbClr val="0E46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100" b="1" i="0" u="none" strike="noStrike" kern="0" cap="none" spc="-10" normalizeH="0" baseline="0" noProof="0" dirty="0">
                <a:ln>
                  <a:noFill/>
                </a:ln>
                <a:solidFill>
                  <a:srgbClr val="0E4660"/>
                </a:solidFill>
                <a:effectLst/>
                <a:uLnTx/>
                <a:uFillTx/>
                <a:latin typeface="Arial"/>
                <a:cs typeface="Arial"/>
              </a:rPr>
              <a:t>OBJECTIVE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I specialize in identifying vulnerabilities, strengthening security infrastructures, and helping organizations stay one step ahead of </a:t>
            </a:r>
            <a:r>
              <a:rPr kumimoji="0" lang="en-US" sz="105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attackers.With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a strong foundation in network security, ethical hacking, and cloud protection, I focus on building secure and resilient systems. My approach combines technical expertise with strategic thinking to ensure both prevention and rapid response.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533400"/>
            <a:ext cx="59074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lang="en-US" sz="1400" b="1" spc="-10" dirty="0">
              <a:solidFill>
                <a:srgbClr val="0E466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endParaRPr sz="1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7525" y="228600"/>
            <a:ext cx="3368675" cy="177869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0E4660"/>
                </a:solidFill>
                <a:latin typeface="Arial"/>
                <a:cs typeface="Arial"/>
              </a:rPr>
              <a:t>TECHNICAL</a:t>
            </a:r>
            <a:r>
              <a:rPr sz="1400" b="1" spc="-50" dirty="0">
                <a:solidFill>
                  <a:srgbClr val="0E466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E4660"/>
                </a:solidFill>
                <a:latin typeface="Arial"/>
                <a:cs typeface="Arial"/>
              </a:rPr>
              <a:t>&amp;</a:t>
            </a:r>
            <a:r>
              <a:rPr sz="1400" b="1" spc="-40" dirty="0">
                <a:solidFill>
                  <a:srgbClr val="0E466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E4660"/>
                </a:solidFill>
                <a:latin typeface="Arial"/>
                <a:cs typeface="Arial"/>
              </a:rPr>
              <a:t>PROFESSIONAL</a:t>
            </a:r>
            <a:r>
              <a:rPr sz="1400" b="1" spc="-45" dirty="0">
                <a:solidFill>
                  <a:srgbClr val="0E466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E4660"/>
                </a:solidFill>
                <a:latin typeface="Arial"/>
                <a:cs typeface="Arial"/>
              </a:rPr>
              <a:t>SKILLS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400" dirty="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Programming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(C,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C++,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Java,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C#,Python)</a:t>
            </a:r>
            <a:endParaRPr sz="120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spcBef>
                <a:spcPts val="260"/>
              </a:spcBef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Object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Oriented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Programming</a:t>
            </a:r>
            <a:endParaRPr lang="en-US" sz="1200" spc="-1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spcBef>
                <a:spcPts val="260"/>
              </a:spcBef>
              <a:buFont typeface="Symbol"/>
              <a:buChar char=""/>
              <a:tabLst>
                <a:tab pos="469900" algn="l"/>
              </a:tabLst>
            </a:pPr>
            <a:r>
              <a:rPr lang="en-US" sz="1200" spc="-10" dirty="0">
                <a:latin typeface="Arial MT"/>
              </a:rPr>
              <a:t>Cyber security &amp; Ethical Hacking</a:t>
            </a:r>
            <a:endParaRPr lang="en-US" sz="1200" dirty="0"/>
          </a:p>
          <a:p>
            <a:pPr marL="241300">
              <a:lnSpc>
                <a:spcPct val="100000"/>
              </a:lnSpc>
              <a:spcBef>
                <a:spcPts val="260"/>
              </a:spcBef>
              <a:tabLst>
                <a:tab pos="469900" algn="l"/>
              </a:tabLst>
            </a:pPr>
            <a:r>
              <a:rPr lang="en-US" sz="1400" dirty="0"/>
              <a:t>•</a:t>
            </a:r>
            <a:r>
              <a:rPr lang="en-US" sz="1200" dirty="0"/>
              <a:t>    Penetration Testing (Web, Network,      System) </a:t>
            </a:r>
          </a:p>
          <a:p>
            <a:pPr marL="241300">
              <a:lnSpc>
                <a:spcPct val="100000"/>
              </a:lnSpc>
              <a:spcBef>
                <a:spcPts val="260"/>
              </a:spcBef>
              <a:tabLst>
                <a:tab pos="469900" algn="l"/>
              </a:tabLst>
            </a:pPr>
            <a:r>
              <a:rPr lang="en-US" sz="1400" dirty="0"/>
              <a:t>•   </a:t>
            </a:r>
            <a:r>
              <a:rPr lang="en-US" sz="1200" dirty="0"/>
              <a:t> Vulnerability Assessment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B1C64D-63EB-D17A-2CFA-FB06658535DA}"/>
              </a:ext>
            </a:extLst>
          </p:cNvPr>
          <p:cNvSpPr txBox="1"/>
          <p:nvPr/>
        </p:nvSpPr>
        <p:spPr>
          <a:xfrm>
            <a:off x="469447" y="2158622"/>
            <a:ext cx="388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200" b="1" dirty="0">
                <a:solidFill>
                  <a:srgbClr val="0E4660"/>
                </a:solidFill>
                <a:latin typeface="Arial"/>
                <a:cs typeface="Arial"/>
              </a:rPr>
              <a:t>ACADEMIC</a:t>
            </a:r>
            <a:r>
              <a:rPr lang="en-US" sz="1200" b="1" spc="-70" dirty="0">
                <a:solidFill>
                  <a:srgbClr val="0E4660"/>
                </a:solidFill>
                <a:latin typeface="Arial"/>
                <a:cs typeface="Arial"/>
              </a:rPr>
              <a:t> </a:t>
            </a:r>
            <a:r>
              <a:rPr lang="en-US" sz="1200" b="1" spc="-10" dirty="0">
                <a:solidFill>
                  <a:srgbClr val="0E4660"/>
                </a:solidFill>
                <a:latin typeface="Arial"/>
                <a:cs typeface="Arial"/>
              </a:rPr>
              <a:t>QUALIFICATION</a:t>
            </a:r>
            <a:endParaRPr lang="en-US" sz="1200" dirty="0">
              <a:latin typeface="Arial"/>
              <a:cs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B0491A-22CC-968B-6A7E-6DA639A41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337346"/>
              </p:ext>
            </p:extLst>
          </p:nvPr>
        </p:nvGraphicFramePr>
        <p:xfrm>
          <a:off x="152401" y="2527575"/>
          <a:ext cx="7467599" cy="17878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7414">
                  <a:extLst>
                    <a:ext uri="{9D8B030D-6E8A-4147-A177-3AD203B41FA5}">
                      <a16:colId xmlns:a16="http://schemas.microsoft.com/office/drawing/2014/main" val="898572464"/>
                    </a:ext>
                  </a:extLst>
                </a:gridCol>
                <a:gridCol w="2081129">
                  <a:extLst>
                    <a:ext uri="{9D8B030D-6E8A-4147-A177-3AD203B41FA5}">
                      <a16:colId xmlns:a16="http://schemas.microsoft.com/office/drawing/2014/main" val="2713041891"/>
                    </a:ext>
                  </a:extLst>
                </a:gridCol>
                <a:gridCol w="2081129">
                  <a:extLst>
                    <a:ext uri="{9D8B030D-6E8A-4147-A177-3AD203B41FA5}">
                      <a16:colId xmlns:a16="http://schemas.microsoft.com/office/drawing/2014/main" val="876510973"/>
                    </a:ext>
                  </a:extLst>
                </a:gridCol>
                <a:gridCol w="1200651">
                  <a:extLst>
                    <a:ext uri="{9D8B030D-6E8A-4147-A177-3AD203B41FA5}">
                      <a16:colId xmlns:a16="http://schemas.microsoft.com/office/drawing/2014/main" val="3750726808"/>
                    </a:ext>
                  </a:extLst>
                </a:gridCol>
                <a:gridCol w="727276">
                  <a:extLst>
                    <a:ext uri="{9D8B030D-6E8A-4147-A177-3AD203B41FA5}">
                      <a16:colId xmlns:a16="http://schemas.microsoft.com/office/drawing/2014/main" val="1356231200"/>
                    </a:ext>
                  </a:extLst>
                </a:gridCol>
              </a:tblGrid>
              <a:tr h="478026">
                <a:tc>
                  <a:txBody>
                    <a:bodyPr/>
                    <a:lstStyle/>
                    <a:p>
                      <a:pPr marL="68580">
                        <a:lnSpc>
                          <a:spcPts val="1380"/>
                        </a:lnSpc>
                      </a:pPr>
                      <a:r>
                        <a:rPr sz="1000" b="1" spc="-20" dirty="0">
                          <a:latin typeface="Arial"/>
                          <a:cs typeface="Arial"/>
                        </a:rPr>
                        <a:t>Exam</a:t>
                      </a:r>
                      <a:endParaRPr sz="1000" dirty="0">
                        <a:latin typeface="Arial"/>
                        <a:cs typeface="Arial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Title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Concentration/Major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958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Institute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958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Result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958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80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Passing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000" b="1" spc="-20" dirty="0">
                          <a:latin typeface="Arial"/>
                          <a:cs typeface="Arial"/>
                        </a:rPr>
                        <a:t>Year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153726"/>
                  </a:ext>
                </a:extLst>
              </a:tr>
              <a:tr h="481636">
                <a:tc>
                  <a:txBody>
                    <a:bodyPr/>
                    <a:lstStyle/>
                    <a:p>
                      <a:pPr marL="68580" marR="166370">
                        <a:lnSpc>
                          <a:spcPct val="110000"/>
                        </a:lnSpc>
                        <a:spcBef>
                          <a:spcPts val="61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B.Sc.</a:t>
                      </a:r>
                      <a:r>
                        <a:rPr sz="10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5" dirty="0">
                          <a:latin typeface="Arial"/>
                          <a:cs typeface="Arial"/>
                        </a:rPr>
                        <a:t>in CSE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05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Cyber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  <a:p>
                      <a:pPr marL="68580" marR="485775">
                        <a:lnSpc>
                          <a:spcPct val="11170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Security(Ethical hacking)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66370">
                        <a:lnSpc>
                          <a:spcPct val="110000"/>
                        </a:lnSpc>
                        <a:spcBef>
                          <a:spcPts val="63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American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International Univ.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</a:txBody>
                  <a:tcPr marL="0" marR="0" marT="806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(3.35</a:t>
                      </a:r>
                      <a:r>
                        <a:rPr sz="10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of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4)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990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2026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032247"/>
                  </a:ext>
                </a:extLst>
              </a:tr>
              <a:tr h="32562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000" b="1" spc="-25" dirty="0">
                          <a:latin typeface="Arial"/>
                          <a:cs typeface="Arial"/>
                        </a:rPr>
                        <a:t>HSC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927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Science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</a:txBody>
                  <a:tcPr marL="0" marR="0" marT="958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Dhaka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Commerce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College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(4.71of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5)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958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2021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958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982233"/>
                  </a:ext>
                </a:extLst>
              </a:tr>
              <a:tr h="47257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000" b="1" spc="-25" dirty="0">
                          <a:latin typeface="Arial"/>
                          <a:cs typeface="Arial"/>
                        </a:rPr>
                        <a:t>SSC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Science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</a:txBody>
                  <a:tcPr marL="0" marR="0" marT="990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3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Civil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Aviation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School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College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(5</a:t>
                      </a:r>
                      <a:r>
                        <a:rPr sz="10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5)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</a:txBody>
                  <a:tcPr marL="0" marR="0" marT="990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2019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</a:txBody>
                  <a:tcPr marL="0" marR="0" marT="990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04738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3444C4A-5810-C2C5-7D0A-F70DFB887614}"/>
              </a:ext>
            </a:extLst>
          </p:cNvPr>
          <p:cNvSpPr txBox="1"/>
          <p:nvPr/>
        </p:nvSpPr>
        <p:spPr>
          <a:xfrm>
            <a:off x="469447" y="4423308"/>
            <a:ext cx="3886200" cy="7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dirty="0">
                <a:solidFill>
                  <a:srgbClr val="0E4660"/>
                </a:solidFill>
                <a:latin typeface="Arial"/>
                <a:cs typeface="Arial"/>
              </a:rPr>
              <a:t>LANGUAGE</a:t>
            </a:r>
            <a:r>
              <a:rPr lang="en-US" sz="1100" b="1" spc="-65" dirty="0">
                <a:solidFill>
                  <a:srgbClr val="0E4660"/>
                </a:solidFill>
                <a:latin typeface="Arial"/>
                <a:cs typeface="Arial"/>
              </a:rPr>
              <a:t> </a:t>
            </a:r>
            <a:r>
              <a:rPr lang="en-US" sz="1100" b="1" spc="-10" dirty="0">
                <a:solidFill>
                  <a:srgbClr val="0E4660"/>
                </a:solidFill>
                <a:latin typeface="Arial"/>
                <a:cs typeface="Arial"/>
              </a:rPr>
              <a:t>PROFICIENCY</a:t>
            </a:r>
            <a:endParaRPr lang="en-US"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lang="en-US" sz="1100" dirty="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lang="en-US" sz="1050" b="1" dirty="0">
                <a:latin typeface="Arial"/>
                <a:cs typeface="Arial"/>
              </a:rPr>
              <a:t>Bangla: </a:t>
            </a:r>
            <a:r>
              <a:rPr lang="en-US" sz="1050" dirty="0">
                <a:latin typeface="Arial MT"/>
                <a:cs typeface="Arial MT"/>
              </a:rPr>
              <a:t>Native</a:t>
            </a:r>
            <a:r>
              <a:rPr lang="en-US" sz="1050" spc="-30" dirty="0">
                <a:latin typeface="Arial MT"/>
                <a:cs typeface="Arial MT"/>
              </a:rPr>
              <a:t> </a:t>
            </a:r>
            <a:r>
              <a:rPr lang="en-US" sz="1050" dirty="0">
                <a:latin typeface="Arial MT"/>
                <a:cs typeface="Arial MT"/>
              </a:rPr>
              <a:t>(High</a:t>
            </a:r>
            <a:r>
              <a:rPr lang="en-US" sz="1050" spc="-10" dirty="0">
                <a:latin typeface="Arial MT"/>
                <a:cs typeface="Arial MT"/>
              </a:rPr>
              <a:t> Proficiency)</a:t>
            </a:r>
            <a:endParaRPr lang="en-US" sz="1050" dirty="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spcBef>
                <a:spcPts val="240"/>
              </a:spcBef>
              <a:buFont typeface="Symbol"/>
              <a:buChar char=""/>
              <a:tabLst>
                <a:tab pos="469900" algn="l"/>
              </a:tabLst>
            </a:pPr>
            <a:r>
              <a:rPr lang="en-US" sz="1050" b="1" dirty="0">
                <a:latin typeface="Arial"/>
                <a:cs typeface="Arial"/>
              </a:rPr>
              <a:t>English:</a:t>
            </a:r>
            <a:r>
              <a:rPr lang="en-US" sz="1050" b="1" spc="-40" dirty="0">
                <a:latin typeface="Arial"/>
                <a:cs typeface="Arial"/>
              </a:rPr>
              <a:t> </a:t>
            </a:r>
            <a:r>
              <a:rPr lang="en-US" sz="1050" dirty="0">
                <a:latin typeface="Arial MT"/>
                <a:cs typeface="Arial MT"/>
              </a:rPr>
              <a:t>Professional</a:t>
            </a:r>
            <a:r>
              <a:rPr lang="en-US" sz="1050" spc="-35" dirty="0">
                <a:latin typeface="Arial MT"/>
                <a:cs typeface="Arial MT"/>
              </a:rPr>
              <a:t> </a:t>
            </a:r>
            <a:r>
              <a:rPr lang="en-US" sz="1050" dirty="0">
                <a:latin typeface="Arial MT"/>
                <a:cs typeface="Arial MT"/>
              </a:rPr>
              <a:t>(Medium</a:t>
            </a:r>
            <a:r>
              <a:rPr lang="en-US" sz="1050" spc="-85" dirty="0">
                <a:latin typeface="Arial MT"/>
                <a:cs typeface="Arial MT"/>
              </a:rPr>
              <a:t> </a:t>
            </a:r>
            <a:r>
              <a:rPr lang="en-US" sz="1050" spc="-10" dirty="0">
                <a:latin typeface="Arial MT"/>
                <a:cs typeface="Arial MT"/>
              </a:rPr>
              <a:t>Proficiency)</a:t>
            </a:r>
            <a:endParaRPr lang="en-US" sz="1050" dirty="0">
              <a:latin typeface="Arial MT"/>
              <a:cs typeface="Arial M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204942-ECD2-3810-4CBF-910BD756192A}"/>
              </a:ext>
            </a:extLst>
          </p:cNvPr>
          <p:cNvSpPr txBox="1"/>
          <p:nvPr/>
        </p:nvSpPr>
        <p:spPr>
          <a:xfrm>
            <a:off x="469447" y="5689265"/>
            <a:ext cx="38862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lang="en-US" sz="1100" b="1" dirty="0">
                <a:solidFill>
                  <a:srgbClr val="0E4660"/>
                </a:solidFill>
                <a:latin typeface="Arial"/>
                <a:cs typeface="Arial"/>
              </a:rPr>
              <a:t>PERSONAL</a:t>
            </a:r>
            <a:r>
              <a:rPr lang="en-US" sz="1100" b="1" spc="-75" dirty="0">
                <a:solidFill>
                  <a:srgbClr val="0E4660"/>
                </a:solidFill>
                <a:latin typeface="Arial"/>
                <a:cs typeface="Arial"/>
              </a:rPr>
              <a:t> </a:t>
            </a:r>
            <a:r>
              <a:rPr lang="en-US" sz="1100" b="1" spc="-10" dirty="0">
                <a:solidFill>
                  <a:srgbClr val="0E4660"/>
                </a:solidFill>
                <a:latin typeface="Arial"/>
                <a:cs typeface="Arial"/>
              </a:rPr>
              <a:t>DETAILS</a:t>
            </a:r>
            <a:endParaRPr lang="en-US"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lang="en-US" sz="1100" dirty="0">
              <a:latin typeface="Arial"/>
              <a:cs typeface="Arial"/>
            </a:endParaRPr>
          </a:p>
          <a:p>
            <a:pPr marL="4826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82600" algn="l"/>
              </a:tabLst>
            </a:pPr>
            <a:r>
              <a:rPr lang="en-US" sz="1050" b="1" dirty="0">
                <a:latin typeface="Arial"/>
                <a:cs typeface="Arial"/>
              </a:rPr>
              <a:t>Father’s</a:t>
            </a:r>
            <a:r>
              <a:rPr lang="en-US" sz="1050" b="1" spc="-50" dirty="0">
                <a:latin typeface="Arial"/>
                <a:cs typeface="Arial"/>
              </a:rPr>
              <a:t> </a:t>
            </a:r>
            <a:r>
              <a:rPr lang="en-US" sz="1050" b="1" dirty="0">
                <a:latin typeface="Arial"/>
                <a:cs typeface="Arial"/>
              </a:rPr>
              <a:t>Name:</a:t>
            </a:r>
            <a:r>
              <a:rPr lang="en-US" sz="1050" b="1" spc="-30" dirty="0">
                <a:latin typeface="Arial"/>
                <a:cs typeface="Arial"/>
              </a:rPr>
              <a:t> </a:t>
            </a:r>
            <a:r>
              <a:rPr lang="en-US" sz="1050" dirty="0" err="1">
                <a:latin typeface="Arial MT"/>
                <a:cs typeface="Arial MT"/>
              </a:rPr>
              <a:t>Md.Anwar</a:t>
            </a:r>
            <a:r>
              <a:rPr lang="en-US" sz="1050" spc="-45" dirty="0">
                <a:latin typeface="Arial MT"/>
                <a:cs typeface="Arial MT"/>
              </a:rPr>
              <a:t> </a:t>
            </a:r>
            <a:r>
              <a:rPr lang="en-US" sz="1050" spc="-10" dirty="0">
                <a:latin typeface="Arial MT"/>
                <a:cs typeface="Arial MT"/>
              </a:rPr>
              <a:t>Hossain</a:t>
            </a:r>
            <a:endParaRPr lang="en-US" sz="1050" dirty="0">
              <a:latin typeface="Arial MT"/>
              <a:cs typeface="Arial MT"/>
            </a:endParaRPr>
          </a:p>
          <a:p>
            <a:pPr marL="482600" indent="-228600">
              <a:lnSpc>
                <a:spcPct val="100000"/>
              </a:lnSpc>
              <a:spcBef>
                <a:spcPts val="240"/>
              </a:spcBef>
              <a:buFont typeface="Symbol"/>
              <a:buChar char=""/>
              <a:tabLst>
                <a:tab pos="482600" algn="l"/>
              </a:tabLst>
            </a:pPr>
            <a:r>
              <a:rPr lang="en-US" sz="1050" b="1" dirty="0">
                <a:latin typeface="Arial"/>
                <a:cs typeface="Arial"/>
              </a:rPr>
              <a:t>Mother’s</a:t>
            </a:r>
            <a:r>
              <a:rPr lang="en-US" sz="1050" b="1" spc="-30" dirty="0">
                <a:latin typeface="Arial"/>
                <a:cs typeface="Arial"/>
              </a:rPr>
              <a:t> </a:t>
            </a:r>
            <a:r>
              <a:rPr lang="en-US" sz="1050" b="1" dirty="0">
                <a:latin typeface="Arial"/>
                <a:cs typeface="Arial"/>
              </a:rPr>
              <a:t>Name:</a:t>
            </a:r>
            <a:r>
              <a:rPr lang="en-US" sz="1050" b="1" spc="-15" dirty="0">
                <a:latin typeface="Arial"/>
                <a:cs typeface="Arial"/>
              </a:rPr>
              <a:t> </a:t>
            </a:r>
            <a:r>
              <a:rPr lang="en-US" sz="1050" dirty="0" err="1">
                <a:latin typeface="Arial MT"/>
                <a:cs typeface="Arial MT"/>
              </a:rPr>
              <a:t>Sirazum</a:t>
            </a:r>
            <a:r>
              <a:rPr lang="en-US" sz="1050" spc="-70" dirty="0">
                <a:latin typeface="Arial MT"/>
                <a:cs typeface="Arial MT"/>
              </a:rPr>
              <a:t> </a:t>
            </a:r>
            <a:r>
              <a:rPr lang="en-US" sz="1050" spc="-10" dirty="0">
                <a:latin typeface="Arial MT"/>
                <a:cs typeface="Arial MT"/>
              </a:rPr>
              <a:t>Munira</a:t>
            </a:r>
            <a:endParaRPr lang="en-US" sz="1050" dirty="0">
              <a:latin typeface="Arial MT"/>
              <a:cs typeface="Arial MT"/>
            </a:endParaRPr>
          </a:p>
          <a:p>
            <a:pPr marL="482600" indent="-228600">
              <a:lnSpc>
                <a:spcPct val="100000"/>
              </a:lnSpc>
              <a:spcBef>
                <a:spcPts val="240"/>
              </a:spcBef>
              <a:buFont typeface="Symbol"/>
              <a:buChar char=""/>
              <a:tabLst>
                <a:tab pos="482600" algn="l"/>
              </a:tabLst>
            </a:pPr>
            <a:r>
              <a:rPr lang="en-US" sz="1050" b="1" dirty="0">
                <a:latin typeface="Arial"/>
                <a:cs typeface="Arial"/>
              </a:rPr>
              <a:t>Date</a:t>
            </a:r>
            <a:r>
              <a:rPr lang="en-US" sz="1050" b="1" spc="-15" dirty="0">
                <a:latin typeface="Arial"/>
                <a:cs typeface="Arial"/>
              </a:rPr>
              <a:t> </a:t>
            </a:r>
            <a:r>
              <a:rPr lang="en-US" sz="1050" b="1" dirty="0">
                <a:latin typeface="Arial"/>
                <a:cs typeface="Arial"/>
              </a:rPr>
              <a:t>of</a:t>
            </a:r>
            <a:r>
              <a:rPr lang="en-US" sz="1050" b="1" spc="-5" dirty="0">
                <a:latin typeface="Arial"/>
                <a:cs typeface="Arial"/>
              </a:rPr>
              <a:t> </a:t>
            </a:r>
            <a:r>
              <a:rPr lang="en-US" sz="1050" b="1" dirty="0">
                <a:latin typeface="Arial"/>
                <a:cs typeface="Arial"/>
              </a:rPr>
              <a:t>Birth: </a:t>
            </a:r>
            <a:r>
              <a:rPr lang="en-US" sz="1050" dirty="0">
                <a:latin typeface="Arial MT"/>
                <a:cs typeface="Arial MT"/>
              </a:rPr>
              <a:t>1</a:t>
            </a:r>
            <a:r>
              <a:rPr lang="en-US" sz="1050" baseline="27777" dirty="0">
                <a:latin typeface="Arial MT"/>
                <a:cs typeface="Arial MT"/>
              </a:rPr>
              <a:t>st</a:t>
            </a:r>
            <a:r>
              <a:rPr lang="en-US" sz="1050" spc="644" baseline="27777" dirty="0">
                <a:latin typeface="Arial MT"/>
                <a:cs typeface="Arial MT"/>
              </a:rPr>
              <a:t> </a:t>
            </a:r>
            <a:r>
              <a:rPr lang="en-US" sz="1050" spc="-10" dirty="0">
                <a:latin typeface="Arial MT"/>
                <a:cs typeface="Arial MT"/>
              </a:rPr>
              <a:t>January,2005</a:t>
            </a:r>
            <a:endParaRPr lang="en-US" sz="1050" dirty="0">
              <a:latin typeface="Arial MT"/>
              <a:cs typeface="Arial MT"/>
            </a:endParaRPr>
          </a:p>
          <a:p>
            <a:pPr marL="482600" indent="-228600">
              <a:lnSpc>
                <a:spcPct val="100000"/>
              </a:lnSpc>
              <a:spcBef>
                <a:spcPts val="240"/>
              </a:spcBef>
              <a:buFont typeface="Symbol"/>
              <a:buChar char=""/>
              <a:tabLst>
                <a:tab pos="482600" algn="l"/>
              </a:tabLst>
            </a:pPr>
            <a:r>
              <a:rPr lang="en-US" sz="1050" b="1" dirty="0">
                <a:latin typeface="Arial"/>
                <a:cs typeface="Arial"/>
              </a:rPr>
              <a:t>Nationality:</a:t>
            </a:r>
            <a:r>
              <a:rPr lang="en-US" sz="1050" b="1" spc="-15" dirty="0">
                <a:latin typeface="Arial"/>
                <a:cs typeface="Arial"/>
              </a:rPr>
              <a:t> </a:t>
            </a:r>
            <a:r>
              <a:rPr lang="en-US" sz="1050" dirty="0">
                <a:latin typeface="Arial MT"/>
                <a:cs typeface="Arial MT"/>
              </a:rPr>
              <a:t>|</a:t>
            </a:r>
            <a:r>
              <a:rPr lang="en-US" sz="1050" spc="-55" dirty="0">
                <a:latin typeface="Arial MT"/>
                <a:cs typeface="Arial MT"/>
              </a:rPr>
              <a:t> </a:t>
            </a:r>
            <a:r>
              <a:rPr lang="en-US" sz="1050" b="1" dirty="0">
                <a:latin typeface="Arial"/>
                <a:cs typeface="Arial"/>
              </a:rPr>
              <a:t>Religion:</a:t>
            </a:r>
            <a:r>
              <a:rPr lang="en-US" sz="1050" b="1" spc="-15" dirty="0">
                <a:latin typeface="Arial"/>
                <a:cs typeface="Arial"/>
              </a:rPr>
              <a:t> </a:t>
            </a:r>
            <a:r>
              <a:rPr lang="en-US" sz="1050" spc="-10" dirty="0">
                <a:latin typeface="Arial MT"/>
                <a:cs typeface="Arial MT"/>
              </a:rPr>
              <a:t>Islam</a:t>
            </a:r>
            <a:endParaRPr lang="en-US" sz="1050" dirty="0">
              <a:latin typeface="Arial MT"/>
              <a:cs typeface="Arial MT"/>
            </a:endParaRPr>
          </a:p>
          <a:p>
            <a:pPr marL="482600" indent="-228600">
              <a:lnSpc>
                <a:spcPct val="100000"/>
              </a:lnSpc>
              <a:spcBef>
                <a:spcPts val="240"/>
              </a:spcBef>
              <a:buFont typeface="Symbol"/>
              <a:buChar char=""/>
              <a:tabLst>
                <a:tab pos="482600" algn="l"/>
              </a:tabLst>
            </a:pPr>
            <a:r>
              <a:rPr lang="en-US" sz="1050" b="1" dirty="0">
                <a:latin typeface="Arial"/>
                <a:cs typeface="Arial"/>
              </a:rPr>
              <a:t>Permanent Address:</a:t>
            </a:r>
            <a:r>
              <a:rPr lang="en-US" sz="1050" b="1" spc="25" dirty="0">
                <a:latin typeface="Arial"/>
                <a:cs typeface="Arial"/>
              </a:rPr>
              <a:t> </a:t>
            </a:r>
            <a:r>
              <a:rPr lang="en-US" sz="1050" dirty="0">
                <a:latin typeface="Arial MT"/>
                <a:cs typeface="Arial MT"/>
              </a:rPr>
              <a:t>446</a:t>
            </a:r>
            <a:r>
              <a:rPr lang="en-US" sz="1050" spc="-5" dirty="0">
                <a:latin typeface="Arial MT"/>
                <a:cs typeface="Arial MT"/>
              </a:rPr>
              <a:t> </a:t>
            </a:r>
            <a:r>
              <a:rPr lang="en-US" sz="1050" spc="-10" dirty="0">
                <a:latin typeface="Arial MT"/>
                <a:cs typeface="Arial MT"/>
              </a:rPr>
              <a:t>Shaheenbag,Dhaka-</a:t>
            </a:r>
            <a:r>
              <a:rPr lang="en-US" sz="1050" spc="-20" dirty="0">
                <a:latin typeface="Arial MT"/>
                <a:cs typeface="Arial MT"/>
              </a:rPr>
              <a:t>1215</a:t>
            </a:r>
            <a:endParaRPr lang="en-US" sz="1050" dirty="0">
              <a:latin typeface="Arial MT"/>
              <a:cs typeface="Arial M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BF9342-0DA7-91E8-E924-6ECFAC61136E}"/>
              </a:ext>
            </a:extLst>
          </p:cNvPr>
          <p:cNvSpPr txBox="1"/>
          <p:nvPr/>
        </p:nvSpPr>
        <p:spPr>
          <a:xfrm>
            <a:off x="521597" y="8153400"/>
            <a:ext cx="3886200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-10" normalizeH="0" baseline="0" noProof="0" dirty="0">
                <a:ln>
                  <a:noFill/>
                </a:ln>
                <a:solidFill>
                  <a:srgbClr val="0E4660"/>
                </a:solidFill>
                <a:effectLst/>
                <a:uLnTx/>
                <a:uFillTx/>
                <a:latin typeface="Arial"/>
                <a:cs typeface="Arial"/>
              </a:rPr>
              <a:t>REFERENCES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Reference</a:t>
            </a:r>
            <a:r>
              <a:rPr kumimoji="0" lang="en-US" sz="1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01: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MD.</a:t>
            </a:r>
            <a:r>
              <a:rPr kumimoji="0" lang="en-US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Sadik</a:t>
            </a:r>
            <a:r>
              <a:rPr kumimoji="0" lang="en-US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Tasrif</a:t>
            </a:r>
            <a:r>
              <a:rPr kumimoji="0" lang="en-US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lang="en-US" sz="1200" b="0" i="0" u="none" strike="noStrike" kern="0" cap="none" spc="-1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Anuobrove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Lecturer,</a:t>
            </a:r>
            <a:r>
              <a:rPr kumimoji="0" lang="en-US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Faculty,</a:t>
            </a:r>
            <a:r>
              <a:rPr kumimoji="0" lang="en-US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Dept.</a:t>
            </a:r>
            <a:r>
              <a:rPr kumimoji="0" lang="en-US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lang="en-US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CS,</a:t>
            </a:r>
            <a:r>
              <a:rPr kumimoji="0" lang="en-US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AIUB</a:t>
            </a:r>
            <a:r>
              <a:rPr kumimoji="0" lang="en-US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Email:</a:t>
            </a:r>
            <a:r>
              <a:rPr kumimoji="0" lang="en-US" sz="12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lang="en-US" sz="1200" b="0" i="0" u="sng" strike="noStrike" kern="0" cap="none" spc="-10" normalizeH="0" baseline="0" noProof="0" dirty="0">
                <a:ln>
                  <a:noFill/>
                </a:ln>
                <a:solidFill>
                  <a:srgbClr val="467885"/>
                </a:solidFill>
                <a:effectLst/>
                <a:uLnTx/>
                <a:uFill>
                  <a:solidFill>
                    <a:srgbClr val="467885"/>
                  </a:solidFill>
                </a:uFill>
                <a:latin typeface="Arial MT"/>
                <a:cs typeface="Arial MT"/>
                <a:hlinkClick r:id="rId2"/>
              </a:rPr>
              <a:t>tastrif.anubhove@aiub.edu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446</Words>
  <Application>Microsoft Office PowerPoint</Application>
  <PresentationFormat>Custom</PresentationFormat>
  <Paragraphs>76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MT</vt:lpstr>
      <vt:lpstr>Calibri</vt:lpstr>
      <vt:lpstr>Symbol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IFTEY ALAM CHOWDHURY</dc:creator>
  <cp:lastModifiedBy>MD.AL-TAMISH HOSSAIN</cp:lastModifiedBy>
  <cp:revision>3</cp:revision>
  <dcterms:created xsi:type="dcterms:W3CDTF">2026-03-12T08:12:12Z</dcterms:created>
  <dcterms:modified xsi:type="dcterms:W3CDTF">2026-03-12T09:25:31Z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2026-03-05T00:00:00Z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2026-03-12T00:00:00Z</vt:filetime>
  </property>
  <property fmtid="{D5CDD505-2E9C-101B-9397-08002B2CF9AE}" pid="5" name="Producer">
    <vt:lpwstr>www.ilovepdf.com</vt:lpwstr>
  </property>
</Properties>
</file>